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8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1A1315-B5A0-45DB-AE8D-44590901EDDB}" v="24" dt="2026-06-12T02:31:45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66" y="3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0E630-7F9F-4C4E-89BB-2ADE9062391A}" type="datetimeFigureOut">
              <a:t>12/06/2026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35CCBF-73DB-4E06-B978-D7BD66F960BE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5899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BBB43-44E1-373E-0469-88F109B2F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EBA5E-382D-EF57-74A0-114AE1E75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60E07-8FF6-9981-357D-01CA751E9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8590E-EF2E-1134-BDCB-D128C6583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954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2C5F2D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1828800" y="4754880"/>
            <a:ext cx="3657600" cy="3657600"/>
          </a:xfrm>
          <a:prstGeom prst="ellipse">
            <a:avLst/>
          </a:prstGeom>
          <a:solidFill>
            <a:srgbClr val="97BC62">
              <a:alpha val="3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GERENCIAMENTO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Academia &amp; Planos de Treino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1069848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Desenvolvido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Java com </a:t>
            </a: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persistência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MySQL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Projeto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Acadêmico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- Av2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Sistema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1508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de Alunos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5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busca, alteração e exclusão de alunos com matrícula, CPF e dados pessoais.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492240" y="15544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492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0" y="1508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de Professores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0" y="20116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5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professores responsáveis pelos planos de treino, com CREF e especialidade.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Planos de Treino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4389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5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de exercícios a alunos, com cálculo automático de valores.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6576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6492240" y="393192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4922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22376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Pagamentos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23760" y="4389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5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a Dinheiro, Pix, Cartão de Crédito e Débito, com validação por forma de pagamento.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do Sistema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em camadas, separando interface, regras de negócio e persistência de dados.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Swing (GuiLogin, GuiMenuPrincipal, GuiCadastroAluno, GuiPagamento...)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06440" y="2468880"/>
            <a:ext cx="0" cy="0"/>
          </a:xfrm>
          <a:prstGeom prst="ellipse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97BC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26974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domínio (Aluno, Professor, PlanoTreino, Pagamento, Exercícios...)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06440" y="3611880"/>
            <a:ext cx="0" cy="0"/>
          </a:xfrm>
          <a:prstGeom prst="ellipse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E8C6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22960" y="3840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26080" y="38404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dados (AlunoDAO, PagamentoDAO, LoginDAO, ProfessorDAO...)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06440" y="4754880"/>
            <a:ext cx="0" cy="0"/>
          </a:xfrm>
          <a:prstGeom prst="ellipse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B3A1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22960" y="4983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926080" y="49834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relacional - persistência das informações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 de Login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6692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informa código e senha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busca o login no banco via LoginDAO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senha é validada por hash (Login.validarLogin)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válido, abre o Menu Principal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contrário, exibe mensagem de erro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0" y="1188720"/>
            <a:ext cx="530352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7" name="Image 0" descr="images/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395" y="2377440"/>
            <a:ext cx="2630091" cy="2148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GuiLogin em execução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 Principal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login, o usuário acessa o menu principal com as opções organizadas por categoria.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images/menu_arqui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584" y="1691640"/>
            <a:ext cx="2053073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832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Arquivo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17920" y="150876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images/menu_alu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620" y="1691640"/>
            <a:ext cx="2081561" cy="1463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17920" y="33832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Aluno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397764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1" name="Image 2" descr="images/menu_profes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674" y="4160520"/>
            <a:ext cx="2124891" cy="1463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Professor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217920" y="397764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3" descr="images/menu_aju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320" y="4160520"/>
            <a:ext cx="2108160" cy="1463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Ajuda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Cadastro de Aluno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85216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Operações disponíveis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5394960" cy="3200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Salvar - insere um novo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AlunoDAO.atualizar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/ INCLUSAO)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Buscar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localiza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pela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matrícula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preenche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campos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Alterar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atualiza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dados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(ALTERACAO)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Excluir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 remove 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após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confirmação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(EXCLUSAO)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Limpar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reseta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todos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campos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formulário</a:t>
            </a:r>
            <a:endParaRPr lang="en-US" sz="14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66560" y="1188720"/>
            <a:ext cx="512064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7" name="Image 0" descr="images/cadastro_alu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9669" y="1463040"/>
            <a:ext cx="2954421" cy="2377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0" y="4846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GuiCadastroAluno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252A87-AA0C-648D-E183-43ADC59AD3D9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Cadastro de Professor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112EE83-EC41-12AA-285D-BF8DCEC70FDE}"/>
              </a:ext>
            </a:extLst>
          </p:cNvPr>
          <p:cNvSpPr/>
          <p:nvPr/>
        </p:nvSpPr>
        <p:spPr>
          <a:xfrm>
            <a:off x="372846" y="1188720"/>
            <a:ext cx="585216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37852B-F0A0-E905-78BA-D0BF0D0C15E0}"/>
              </a:ext>
            </a:extLst>
          </p:cNvPr>
          <p:cNvSpPr/>
          <p:nvPr/>
        </p:nvSpPr>
        <p:spPr>
          <a:xfrm>
            <a:off x="8686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Operações disponíveis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88A1B78-27D4-AC33-1074-55C49739B334}"/>
              </a:ext>
            </a:extLst>
          </p:cNvPr>
          <p:cNvSpPr/>
          <p:nvPr/>
        </p:nvSpPr>
        <p:spPr>
          <a:xfrm>
            <a:off x="474786" y="2103120"/>
            <a:ext cx="6291775" cy="3200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Salvar - insere um novo Professor (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ProfessorDAO.atualizar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/ INCLUSAO)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Buscar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localiza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um Professor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pelo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CPF 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preenche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campos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Alterar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atualiza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dados do Professor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pelo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CPF (ALTERACAO)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Excluir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 remove o Professor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após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confirmação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(EXCLUSAO)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Limpar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reseta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todos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campos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formulário</a:t>
            </a:r>
            <a:endParaRPr lang="en-US" sz="14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329A186-BA61-019F-5A7D-556859AC58D9}"/>
              </a:ext>
            </a:extLst>
          </p:cNvPr>
          <p:cNvSpPr/>
          <p:nvPr/>
        </p:nvSpPr>
        <p:spPr>
          <a:xfrm>
            <a:off x="6766560" y="1188720"/>
            <a:ext cx="512064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AE5E86A-4C97-A71E-C411-9F6DD892C562}"/>
              </a:ext>
            </a:extLst>
          </p:cNvPr>
          <p:cNvSpPr/>
          <p:nvPr/>
        </p:nvSpPr>
        <p:spPr>
          <a:xfrm>
            <a:off x="6766559" y="5212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</a:t>
            </a:r>
            <a:r>
              <a:rPr lang="en-US" sz="1200" i="1" dirty="0" err="1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GuiCadastroProfessor</a:t>
            </a:r>
            <a:endParaRPr lang="en-US" sz="12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41CC550-1BB4-E163-4C80-D464A4DA1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850" y="1557108"/>
            <a:ext cx="4544059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10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560C2-ECAD-EA01-FA90-C9BEA0D4D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1D4AE79-ECFA-6F76-FAF9-33696ABB7993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Cadastro</a:t>
            </a: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plano de </a:t>
            </a:r>
            <a:r>
              <a:rPr lang="en-US" sz="3200" b="1" dirty="0" err="1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F193A21-B7E4-7E78-AE5A-65EA0C11E729}"/>
              </a:ext>
            </a:extLst>
          </p:cNvPr>
          <p:cNvSpPr/>
          <p:nvPr/>
        </p:nvSpPr>
        <p:spPr>
          <a:xfrm>
            <a:off x="577606" y="1241312"/>
            <a:ext cx="6154563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8DE8B6-739A-F0FE-AECB-A82B20FB83D1}"/>
              </a:ext>
            </a:extLst>
          </p:cNvPr>
          <p:cNvSpPr/>
          <p:nvPr/>
        </p:nvSpPr>
        <p:spPr>
          <a:xfrm>
            <a:off x="8686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Operações disponíveis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D92E03F-FB27-3948-E290-B6F09A185C54}"/>
              </a:ext>
            </a:extLst>
          </p:cNvPr>
          <p:cNvSpPr/>
          <p:nvPr/>
        </p:nvSpPr>
        <p:spPr>
          <a:xfrm>
            <a:off x="368496" y="2103120"/>
            <a:ext cx="6291775" cy="3200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Salvar - insere um novo Plano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treino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400" dirty="0">
                <a:solidFill>
                  <a:srgbClr val="263238"/>
                </a:solidFill>
                <a:ea typeface="Calibri"/>
                <a:cs typeface="Calibri"/>
              </a:rPr>
              <a:t>Plano de </a:t>
            </a:r>
            <a:r>
              <a:rPr lang="en-US" sz="1400" dirty="0" err="1">
                <a:solidFill>
                  <a:srgbClr val="263238"/>
                </a:solidFill>
                <a:ea typeface="Calibri"/>
                <a:cs typeface="Calibri"/>
              </a:rPr>
              <a:t>treino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.atualizar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/ INCLUSAO)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Alterar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atualiza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dados do </a:t>
            </a:r>
            <a:r>
              <a:rPr lang="en-US" sz="1400" dirty="0">
                <a:solidFill>
                  <a:srgbClr val="263238"/>
                </a:solidFill>
                <a:ea typeface="Calibri"/>
                <a:cs typeface="Calibri"/>
              </a:rPr>
              <a:t>Plano de </a:t>
            </a:r>
            <a:r>
              <a:rPr lang="en-US" sz="1400" dirty="0" err="1">
                <a:solidFill>
                  <a:srgbClr val="263238"/>
                </a:solidFill>
                <a:ea typeface="Calibri"/>
                <a:cs typeface="Calibri"/>
              </a:rPr>
              <a:t>treino</a:t>
            </a:r>
            <a:r>
              <a:rPr lang="en-US" sz="1400" dirty="0">
                <a:solidFill>
                  <a:srgbClr val="263238"/>
                </a:solidFill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pelo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IdPlanoTreino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(ALTERACAO)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Excluir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 remove o </a:t>
            </a:r>
            <a:r>
              <a:rPr lang="en-US" sz="1400" dirty="0">
                <a:solidFill>
                  <a:srgbClr val="263238"/>
                </a:solidFill>
                <a:ea typeface="Calibri"/>
                <a:cs typeface="Calibri"/>
              </a:rPr>
              <a:t>Plano de </a:t>
            </a:r>
            <a:r>
              <a:rPr lang="en-US" sz="1400" dirty="0" err="1">
                <a:solidFill>
                  <a:srgbClr val="263238"/>
                </a:solidFill>
                <a:ea typeface="Calibri"/>
                <a:cs typeface="Calibri"/>
              </a:rPr>
              <a:t>treino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após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confirmação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(EXCLUSAO)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Limpar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reseta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todos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campos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formulário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FC75EE-38F2-648B-7DB7-3DE2DD3E02E1}"/>
              </a:ext>
            </a:extLst>
          </p:cNvPr>
          <p:cNvSpPr/>
          <p:nvPr/>
        </p:nvSpPr>
        <p:spPr>
          <a:xfrm>
            <a:off x="6732169" y="1181686"/>
            <a:ext cx="512064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8417871-36C8-5AED-1C8A-4233D6B83251}"/>
              </a:ext>
            </a:extLst>
          </p:cNvPr>
          <p:cNvSpPr/>
          <p:nvPr/>
        </p:nvSpPr>
        <p:spPr>
          <a:xfrm>
            <a:off x="6766559" y="5212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</a:t>
            </a:r>
            <a:r>
              <a:rPr lang="en-US" sz="1200" i="1" dirty="0" err="1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GuiCadastroPlanoTreino</a:t>
            </a:r>
            <a:endParaRPr lang="en-US" sz="12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F5745B0A-42B7-6ABA-6C4F-39127A30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059" y="1451148"/>
            <a:ext cx="4920860" cy="326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109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 de Pagamento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669280" cy="4937760"/>
          </a:xfrm>
          <a:prstGeom prst="roundRect">
            <a:avLst>
              <a:gd name="adj" fmla="val 1481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Formas de pagamento suportadas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5120640" cy="1828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pagamento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sempre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válido</a:t>
            </a:r>
            <a:endParaRPr lang="en-US" sz="1400" dirty="0" err="1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Pix 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exige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chave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tipo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chave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(CPF,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telefone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, e-mail...)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Crédito 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bandeira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número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parcelas</a:t>
            </a:r>
            <a:endParaRPr lang="en-US" sz="1400" dirty="0" err="1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Débito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exige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bandeira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endParaRPr lang="en-US" sz="14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campos do formulário se adaptam dinamicamente conforme a forma de pagamento selecionada, e o sistema valida e persiste o registro via PagamentoDAO.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188720"/>
            <a:ext cx="530352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8" name="Image 0" descr="images/pag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515" y="2194560"/>
            <a:ext cx="3755849" cy="2468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GuiPagamento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D7FCB-DCBC-3299-DDB9-716C980F2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A3CC5A-DD71-1566-4DCE-5A628E6133BE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 de consulta de plano de </a:t>
            </a:r>
            <a:r>
              <a:rPr lang="en-US" sz="3200" b="1" dirty="0" err="1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3AFA463-5BEC-920C-F983-0CFCF81E4D62}"/>
              </a:ext>
            </a:extLst>
          </p:cNvPr>
          <p:cNvSpPr/>
          <p:nvPr/>
        </p:nvSpPr>
        <p:spPr>
          <a:xfrm>
            <a:off x="548640" y="1188720"/>
            <a:ext cx="5669280" cy="4937760"/>
          </a:xfrm>
          <a:prstGeom prst="roundRect">
            <a:avLst>
              <a:gd name="adj" fmla="val 1481"/>
            </a:avLst>
          </a:prstGeom>
          <a:solidFill>
            <a:srgbClr val="F4F8F1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64F66-DF1B-A3D9-4DA2-F921BF11F085}"/>
              </a:ext>
            </a:extLst>
          </p:cNvPr>
          <p:cNvSpPr/>
          <p:nvPr/>
        </p:nvSpPr>
        <p:spPr>
          <a:xfrm>
            <a:off x="86868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Formas de pagamento suportadas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1FCB55F-AF25-9E5B-062B-AA8AD97DFBDF}"/>
              </a:ext>
            </a:extLst>
          </p:cNvPr>
          <p:cNvSpPr/>
          <p:nvPr/>
        </p:nvSpPr>
        <p:spPr>
          <a:xfrm>
            <a:off x="868680" y="2011680"/>
            <a:ext cx="5120640" cy="1828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pagamento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sempre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válido</a:t>
            </a:r>
            <a:endParaRPr lang="en-US" sz="1400" dirty="0" err="1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Pix 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exige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chave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tipo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chave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(CPF,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telefone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, e-mail...)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Crédito 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bandeira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número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parcelas</a:t>
            </a:r>
            <a:endParaRPr lang="en-US" sz="1400" dirty="0" err="1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Débito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exige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bandeira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cartão</a:t>
            </a:r>
            <a:endParaRPr lang="en-US" sz="14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EDEA146-98B7-1A25-E9EC-E9CB393080AC}"/>
              </a:ext>
            </a:extLst>
          </p:cNvPr>
          <p:cNvSpPr/>
          <p:nvPr/>
        </p:nvSpPr>
        <p:spPr>
          <a:xfrm>
            <a:off x="868680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campos do formulário se adaptam dinamicamente conforme a forma de pagamento selecionada, e o sistema valida e persiste o registro via PagamentoDAO.</a:t>
            </a:r>
            <a:endParaRPr lang="en-US" sz="13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ACD4542-E58B-5B14-6307-5D223E6EF218}"/>
              </a:ext>
            </a:extLst>
          </p:cNvPr>
          <p:cNvSpPr/>
          <p:nvPr/>
        </p:nvSpPr>
        <p:spPr>
          <a:xfrm>
            <a:off x="6583680" y="1188720"/>
            <a:ext cx="530352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9CF0ED-2FD4-1A06-84ED-D85C7FE931F2}"/>
              </a:ext>
            </a:extLst>
          </p:cNvPr>
          <p:cNvSpPr/>
          <p:nvPr/>
        </p:nvSpPr>
        <p:spPr>
          <a:xfrm>
            <a:off x="658368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</a:t>
            </a:r>
            <a:r>
              <a:rPr lang="en-US" sz="1200" i="1" dirty="0" err="1">
                <a:solidFill>
                  <a:srgbClr val="8A9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GuiPlanoTreinoConsulta</a:t>
            </a:r>
            <a:endParaRPr lang="en-US" sz="12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F7F900E-E60A-155A-4811-BA6959912A1F}"/>
              </a:ext>
            </a:extLst>
          </p:cNvPr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31AEA35A-BD39-0000-91DA-3F0D55200FAF}"/>
              </a:ext>
            </a:extLst>
          </p:cNvPr>
          <p:cNvSpPr/>
          <p:nvPr/>
        </p:nvSpPr>
        <p:spPr>
          <a:xfrm>
            <a:off x="577606" y="1241312"/>
            <a:ext cx="6154563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60E38A1D-025C-B18B-7D34-A444AC9871D6}"/>
              </a:ext>
            </a:extLst>
          </p:cNvPr>
          <p:cNvSpPr/>
          <p:nvPr/>
        </p:nvSpPr>
        <p:spPr>
          <a:xfrm>
            <a:off x="8686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Operações disponíveis</a:t>
            </a:r>
            <a:endParaRPr lang="en-US" sz="20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C0590F88-098A-72E2-BFBC-5D5EF1F3233B}"/>
              </a:ext>
            </a:extLst>
          </p:cNvPr>
          <p:cNvSpPr/>
          <p:nvPr/>
        </p:nvSpPr>
        <p:spPr>
          <a:xfrm>
            <a:off x="548640" y="2103120"/>
            <a:ext cx="6111631" cy="3200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Consultar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Plano - 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busca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 o plano de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treino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do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Aluno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pelo</a:t>
            </a:r>
            <a:r>
              <a:rPr lang="en-US" sz="1400" dirty="0">
                <a:solidFill>
                  <a:srgbClr val="263238"/>
                </a:solidFill>
                <a:latin typeface="Calibri"/>
                <a:ea typeface="Calibri"/>
                <a:cs typeface="Calibri"/>
              </a:rPr>
              <a:t> Id do p</a:t>
            </a:r>
            <a:r>
              <a:rPr lang="en-US" sz="1400" dirty="0">
                <a:solidFill>
                  <a:srgbClr val="263238"/>
                </a:solidFill>
                <a:ea typeface="Calibri"/>
                <a:cs typeface="Calibri"/>
              </a:rPr>
              <a:t>lano de </a:t>
            </a:r>
            <a:r>
              <a:rPr lang="en-US" sz="1400" dirty="0" err="1">
                <a:solidFill>
                  <a:srgbClr val="263238"/>
                </a:solidFill>
                <a:ea typeface="Calibri"/>
                <a:cs typeface="Calibri"/>
              </a:rPr>
              <a:t>treino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13584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 (Hierarquias)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usa herança para organizar Pessoas, Exercícios e Formas de Pagamento.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640080"/>
          </a:xfrm>
          <a:prstGeom prst="roundRect">
            <a:avLst>
              <a:gd name="adj" fmla="val 8571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 (matrícula)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005840" y="37490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(CREF, especialidade)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508760"/>
            <a:ext cx="3566160" cy="640080"/>
          </a:xfrm>
          <a:prstGeom prst="roundRect">
            <a:avLst>
              <a:gd name="adj" fmla="val 8571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3891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Exercicios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3172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ExercicioComRepeticao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exercícios: Supino, Agachamento...)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846320" y="37490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ExercicioComTempo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(Esteira, Bicicleta, Prancha...)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508760"/>
            <a:ext cx="3566160" cy="640080"/>
          </a:xfrm>
          <a:prstGeom prst="roundRect">
            <a:avLst>
              <a:gd name="adj" fmla="val 8571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22960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FormaPagamento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503920" y="233172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8686800" y="2331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Dinheiro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03920" y="374904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8686800" y="37490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(chave + tipo)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03920" y="5166360"/>
            <a:ext cx="3017520" cy="1188720"/>
          </a:xfrm>
          <a:prstGeom prst="roundRect">
            <a:avLst>
              <a:gd name="adj" fmla="val 4615"/>
            </a:avLst>
          </a:prstGeom>
          <a:solidFill>
            <a:srgbClr val="F4F8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8686800" y="51663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Cartao -&gt; Crédito / Débito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Persistência de Dados (MySQL)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da interface é refletida no banco via classes DAO, seguindo o padrão INCLUSAO / ALTERACAO / EXCLUSAO.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/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e matrícula dos alunos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pessoais, CREF e especialidade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planoTreino / exerciciosPlanoTreino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treino e exercícios associados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valor e id do pagamento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formaPagamento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Detalhes da forma de pagamento (Pix, Cartão...)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63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e hash da senha para autenticação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C5F2D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9601200" y="3657600"/>
            <a:ext cx="4114800" cy="4114800"/>
          </a:xfrm>
          <a:prstGeom prst="ellipse">
            <a:avLst/>
          </a:prstGeom>
          <a:solidFill>
            <a:srgbClr val="97BC62">
              <a:alpha val="3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Considerações Finais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698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E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 com interface gráfica em Java Swing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E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completa em MySQL via JDBC e padrão DAO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E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classes aplicando herança e polimorfismo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E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integradas: Login, Menu, Cadastro de Aluno e Pagamento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E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colaborativo via GitHub com branches por integrante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796</Words>
  <Application>Microsoft Office PowerPoint</Application>
  <PresentationFormat>Widescreen</PresentationFormat>
  <Paragraphs>141</Paragraphs>
  <Slides>13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Gerenciamento de Academia</dc:title>
  <dc:subject>PptxGenJS Presentation</dc:subject>
  <dc:creator>Equipe Sistema Academia</dc:creator>
  <cp:lastModifiedBy>Gabriel Liz</cp:lastModifiedBy>
  <cp:revision>14</cp:revision>
  <dcterms:created xsi:type="dcterms:W3CDTF">2026-06-12T02:26:51Z</dcterms:created>
  <dcterms:modified xsi:type="dcterms:W3CDTF">2026-06-12T21:32:39Z</dcterms:modified>
</cp:coreProperties>
</file>